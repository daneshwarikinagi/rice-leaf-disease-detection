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015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5624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9068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5692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7533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1183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3578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8667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1/19/2026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424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2275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9678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1/19/2026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93817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Rice </a:t>
            </a:r>
            <a:r>
              <a:rPr dirty="0">
                <a:latin typeface="Times New Roman" panose="02020603050405020304" pitchFamily="18" charset="0"/>
                <a:cs typeface="Times New Roman" panose="02020603050405020304" pitchFamily="18" charset="0"/>
              </a:rPr>
              <a:t>Leaf</a:t>
            </a:r>
            <a:r>
              <a:rPr dirty="0"/>
              <a:t> Disease Detection</a:t>
            </a:r>
          </a:p>
        </p:txBody>
      </p:sp>
      <p:sp>
        <p:nvSpPr>
          <p:cNvPr id="3" name="Content Placeholder 2"/>
          <p:cNvSpPr>
            <a:spLocks noGrp="1"/>
          </p:cNvSpPr>
          <p:nvPr>
            <p:ph idx="1"/>
          </p:nvPr>
        </p:nvSpPr>
        <p:spPr/>
        <p:txBody>
          <a:bodyPr/>
          <a:lstStyle/>
          <a:p>
            <a:pPr algn="just"/>
            <a:r>
              <a:rPr lang="en-IN" dirty="0">
                <a:latin typeface="Times New Roman" panose="02020603050405020304" pitchFamily="18" charset="0"/>
                <a:cs typeface="Times New Roman" panose="02020603050405020304" pitchFamily="18" charset="0"/>
              </a:rPr>
              <a:t>NAME:DANESHWARI KINAGI</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PROJECT-ID:PTID-CDS-JAN-26-3753</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RICE_LEAF_PROJE_ID:</a:t>
            </a:r>
            <a:r>
              <a:rPr lang="en-US" dirty="0"/>
              <a:t>PRCP- 1001</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Agriculture plays a key role in India’s economy, with rice being one of the most widely cultivated staple crops. Rice plants are often affected by leaf diseases such as Leaf Smut, Brown Spot, and Bacterial Leaf Blight, which can significantly reduce crop yield. Traditional disease detection methods rely on manual inspection, which is time-consuming and prone to errors. This project uses a Convolutional Neural Network (CNN) to automatically classify rice leaf diseases from images, enabling early detection and supporting improved agricultural productivity.</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lstStyle/>
          <a:p>
            <a:r>
              <a:rPr dirty="0"/>
              <a:t>Classify rice leaf images into:</a:t>
            </a:r>
          </a:p>
          <a:p>
            <a:r>
              <a:rPr dirty="0"/>
              <a:t> Leaf Smut</a:t>
            </a:r>
          </a:p>
          <a:p>
            <a:r>
              <a:rPr dirty="0"/>
              <a:t> Brown Spot</a:t>
            </a:r>
          </a:p>
          <a:p>
            <a:r>
              <a:rPr dirty="0"/>
              <a:t>Bacterial </a:t>
            </a:r>
            <a:r>
              <a:rPr dirty="0">
                <a:latin typeface="Times New Roman" panose="02020603050405020304" pitchFamily="18" charset="0"/>
                <a:cs typeface="Times New Roman" panose="02020603050405020304" pitchFamily="18" charset="0"/>
              </a:rPr>
              <a:t>Leaf</a:t>
            </a:r>
            <a:r>
              <a:rPr dirty="0"/>
              <a:t> Blight</a:t>
            </a:r>
          </a:p>
          <a:p>
            <a:r>
              <a:rPr dirty="0"/>
              <a:t>Using CNN-based image classification.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Dataset</a:t>
            </a:r>
            <a:r>
              <a:rPr dirty="0"/>
              <a:t> Description</a:t>
            </a:r>
          </a:p>
        </p:txBody>
      </p:sp>
      <p:sp>
        <p:nvSpPr>
          <p:cNvPr id="3" name="Content Placeholder 2"/>
          <p:cNvSpPr>
            <a:spLocks noGrp="1"/>
          </p:cNvSpPr>
          <p:nvPr>
            <p:ph idx="1"/>
          </p:nvPr>
        </p:nvSpPr>
        <p:spPr/>
        <p:txBody>
          <a:bodyPr/>
          <a:lstStyle/>
          <a:p>
            <a:r>
              <a:rPr dirty="0"/>
              <a:t>120 </a:t>
            </a:r>
            <a:r>
              <a:rPr dirty="0">
                <a:latin typeface="Times New Roman" panose="02020603050405020304" pitchFamily="18" charset="0"/>
                <a:cs typeface="Times New Roman" panose="02020603050405020304" pitchFamily="18" charset="0"/>
              </a:rPr>
              <a:t>RGB</a:t>
            </a:r>
            <a:r>
              <a:rPr dirty="0"/>
              <a:t> images</a:t>
            </a:r>
          </a:p>
          <a:p>
            <a:r>
              <a:rPr dirty="0"/>
              <a:t>3 disease classes</a:t>
            </a:r>
          </a:p>
          <a:p>
            <a:r>
              <a:rPr dirty="0"/>
              <a:t>Real-world agricultural images</a:t>
            </a:r>
          </a:p>
          <a:p>
            <a:r>
              <a:rPr dirty="0"/>
              <a:t>Small but practical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Exploratory</a:t>
            </a:r>
            <a:r>
              <a:rPr dirty="0"/>
              <a:t> Data Analysis</a:t>
            </a:r>
          </a:p>
        </p:txBody>
      </p:sp>
      <p:sp>
        <p:nvSpPr>
          <p:cNvPr id="3" name="Content Placeholder 2"/>
          <p:cNvSpPr>
            <a:spLocks noGrp="1"/>
          </p:cNvSpPr>
          <p:nvPr>
            <p:ph idx="1"/>
          </p:nvPr>
        </p:nvSpPr>
        <p:spPr/>
        <p:txBody>
          <a:bodyPr/>
          <a:lstStyle/>
          <a:p>
            <a:r>
              <a:rPr dirty="0"/>
              <a:t>Checked class distribution</a:t>
            </a:r>
          </a:p>
          <a:p>
            <a:r>
              <a:rPr dirty="0"/>
              <a:t>Visualized sample images</a:t>
            </a:r>
          </a:p>
          <a:p>
            <a:r>
              <a:rPr dirty="0"/>
              <a:t>Observed size and lighting variations</a:t>
            </a:r>
          </a:p>
          <a:p>
            <a:r>
              <a:rPr dirty="0"/>
              <a:t>Identified need for preprocessing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Data</a:t>
            </a:r>
            <a:r>
              <a:rPr dirty="0"/>
              <a:t> Preprocessing</a:t>
            </a:r>
          </a:p>
        </p:txBody>
      </p:sp>
      <p:sp>
        <p:nvSpPr>
          <p:cNvPr id="3" name="Content Placeholder 2"/>
          <p:cNvSpPr>
            <a:spLocks noGrp="1"/>
          </p:cNvSpPr>
          <p:nvPr>
            <p:ph idx="1"/>
          </p:nvPr>
        </p:nvSpPr>
        <p:spPr/>
        <p:txBody>
          <a:bodyPr/>
          <a:lstStyle/>
          <a:p>
            <a:r>
              <a:rPr dirty="0"/>
              <a:t>Resized images to 128×128</a:t>
            </a:r>
          </a:p>
          <a:p>
            <a:r>
              <a:rPr dirty="0"/>
              <a:t>Normalized pixel values</a:t>
            </a:r>
          </a:p>
          <a:p>
            <a:r>
              <a:rPr dirty="0"/>
              <a:t>Encoded labels</a:t>
            </a:r>
          </a:p>
          <a:p>
            <a:r>
              <a:rPr dirty="0"/>
              <a:t>Split </a:t>
            </a:r>
            <a:r>
              <a:rPr dirty="0">
                <a:latin typeface="Times New Roman" panose="02020603050405020304" pitchFamily="18" charset="0"/>
                <a:cs typeface="Times New Roman" panose="02020603050405020304" pitchFamily="18" charset="0"/>
              </a:rPr>
              <a:t>data</a:t>
            </a:r>
            <a:r>
              <a:rPr dirty="0"/>
              <a:t> into training and testing sets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CNN Model (Without Augmentation)</a:t>
            </a:r>
          </a:p>
        </p:txBody>
      </p:sp>
      <p:sp>
        <p:nvSpPr>
          <p:cNvPr id="3" name="Content Placeholder 2"/>
          <p:cNvSpPr>
            <a:spLocks noGrp="1"/>
          </p:cNvSpPr>
          <p:nvPr>
            <p:ph idx="1"/>
          </p:nvPr>
        </p:nvSpPr>
        <p:spPr/>
        <p:txBody>
          <a:bodyPr/>
          <a:lstStyle/>
          <a:p>
            <a:r>
              <a:rPr dirty="0"/>
              <a:t>Convolution layers for feature extraction</a:t>
            </a:r>
          </a:p>
          <a:p>
            <a:r>
              <a:rPr dirty="0"/>
              <a:t>Pooling layers for dimension reduction</a:t>
            </a:r>
          </a:p>
          <a:p>
            <a:r>
              <a:rPr dirty="0"/>
              <a:t>Dense layers for </a:t>
            </a:r>
            <a:r>
              <a:rPr dirty="0">
                <a:latin typeface="Times New Roman" panose="02020603050405020304" pitchFamily="18" charset="0"/>
                <a:cs typeface="Times New Roman" panose="02020603050405020304" pitchFamily="18" charset="0"/>
              </a:rPr>
              <a:t>classification</a:t>
            </a:r>
          </a:p>
          <a:p>
            <a:r>
              <a:rPr dirty="0"/>
              <a:t>Achieved ~79% accuracy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Augmentation</a:t>
            </a:r>
          </a:p>
        </p:txBody>
      </p:sp>
      <p:sp>
        <p:nvSpPr>
          <p:cNvPr id="3" name="Content Placeholder 2"/>
          <p:cNvSpPr>
            <a:spLocks noGrp="1"/>
          </p:cNvSpPr>
          <p:nvPr>
            <p:ph idx="1"/>
          </p:nvPr>
        </p:nvSpPr>
        <p:spPr/>
        <p:txBody>
          <a:bodyPr/>
          <a:lstStyle/>
          <a:p>
            <a:r>
              <a:rPr>
                <a:latin typeface="Times New Roman" panose="02020603050405020304" pitchFamily="18" charset="0"/>
                <a:cs typeface="Times New Roman" panose="02020603050405020304" pitchFamily="18" charset="0"/>
              </a:rPr>
              <a:t>Rotation</a:t>
            </a:r>
          </a:p>
          <a:p>
            <a:r>
              <a:rPr>
                <a:latin typeface="Times New Roman" panose="02020603050405020304" pitchFamily="18" charset="0"/>
                <a:cs typeface="Times New Roman" panose="02020603050405020304" pitchFamily="18" charset="0"/>
              </a:rPr>
              <a:t>Zooming</a:t>
            </a:r>
          </a:p>
          <a:p>
            <a:r>
              <a:rPr>
                <a:latin typeface="Times New Roman" panose="02020603050405020304" pitchFamily="18" charset="0"/>
                <a:cs typeface="Times New Roman" panose="02020603050405020304" pitchFamily="18" charset="0"/>
              </a:rPr>
              <a:t>Shifting</a:t>
            </a:r>
          </a:p>
          <a:p>
            <a:r>
              <a:rPr>
                <a:latin typeface="Times New Roman" panose="02020603050405020304" pitchFamily="18" charset="0"/>
                <a:cs typeface="Times New Roman" panose="02020603050405020304" pitchFamily="18" charset="0"/>
              </a:rPr>
              <a:t>Horizontal flipping</a:t>
            </a:r>
          </a:p>
          <a:p>
            <a:r>
              <a:rPr>
                <a:latin typeface="Times New Roman" panose="02020603050405020304" pitchFamily="18" charset="0"/>
                <a:cs typeface="Times New Roman" panose="02020603050405020304" pitchFamily="18" charset="0"/>
              </a:rPr>
              <a:t>Improves generalization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CNN Model (With Augmentation)</a:t>
            </a:r>
          </a:p>
        </p:txBody>
      </p:sp>
      <p:sp>
        <p:nvSpPr>
          <p:cNvPr id="3" name="Content Placeholder 2"/>
          <p:cNvSpPr>
            <a:spLocks noGrp="1"/>
          </p:cNvSpPr>
          <p:nvPr>
            <p:ph idx="1"/>
          </p:nvPr>
        </p:nvSpPr>
        <p:spPr/>
        <p:txBody>
          <a:bodyPr/>
          <a:lstStyle/>
          <a:p>
            <a:r>
              <a:rPr>
                <a:latin typeface="Times New Roman" panose="02020603050405020304" pitchFamily="18" charset="0"/>
                <a:cs typeface="Times New Roman" panose="02020603050405020304" pitchFamily="18" charset="0"/>
              </a:rPr>
              <a:t>Trained with augmented data</a:t>
            </a:r>
          </a:p>
          <a:p>
            <a:r>
              <a:rPr>
                <a:latin typeface="Times New Roman" panose="02020603050405020304" pitchFamily="18" charset="0"/>
                <a:cs typeface="Times New Roman" panose="02020603050405020304" pitchFamily="18" charset="0"/>
              </a:rPr>
              <a:t>Reduced overfitting</a:t>
            </a:r>
          </a:p>
          <a:p>
            <a:r>
              <a:rPr>
                <a:latin typeface="Times New Roman" panose="02020603050405020304" pitchFamily="18" charset="0"/>
                <a:cs typeface="Times New Roman" panose="02020603050405020304" pitchFamily="18" charset="0"/>
              </a:rPr>
              <a:t>More stable validation performance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Model</a:t>
            </a:r>
            <a:r>
              <a:rPr dirty="0"/>
              <a:t> Evaluation</a:t>
            </a:r>
          </a:p>
        </p:txBody>
      </p:sp>
      <p:sp>
        <p:nvSpPr>
          <p:cNvPr id="3" name="Content Placeholder 2"/>
          <p:cNvSpPr>
            <a:spLocks noGrp="1"/>
          </p:cNvSpPr>
          <p:nvPr>
            <p:ph idx="1"/>
          </p:nvPr>
        </p:nvSpPr>
        <p:spPr/>
        <p:txBody>
          <a:bodyPr/>
          <a:lstStyle/>
          <a:p>
            <a:r>
              <a:rPr dirty="0"/>
              <a:t>Accuracy</a:t>
            </a:r>
          </a:p>
          <a:p>
            <a:r>
              <a:rPr dirty="0"/>
              <a:t>Precision</a:t>
            </a:r>
          </a:p>
          <a:p>
            <a:r>
              <a:rPr dirty="0"/>
              <a:t>Recall</a:t>
            </a:r>
          </a:p>
          <a:p>
            <a:r>
              <a:rPr dirty="0"/>
              <a:t>F1-score</a:t>
            </a:r>
          </a:p>
          <a:p>
            <a:r>
              <a:rPr dirty="0"/>
              <a:t>Confusion Matrix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Model</a:t>
            </a:r>
            <a:r>
              <a:rPr dirty="0"/>
              <a:t> Comparison</a:t>
            </a:r>
          </a:p>
        </p:txBody>
      </p:sp>
      <p:sp>
        <p:nvSpPr>
          <p:cNvPr id="3" name="Content Placeholder 2"/>
          <p:cNvSpPr>
            <a:spLocks noGrp="1"/>
          </p:cNvSpPr>
          <p:nvPr>
            <p:ph idx="1"/>
          </p:nvPr>
        </p:nvSpPr>
        <p:spPr/>
        <p:txBody>
          <a:bodyPr/>
          <a:lstStyle/>
          <a:p>
            <a:r>
              <a:rPr dirty="0"/>
              <a:t>CNN without augmentation → Overfitting</a:t>
            </a:r>
          </a:p>
          <a:p>
            <a:r>
              <a:rPr dirty="0"/>
              <a:t>CNN with augmentation → Better generalization</a:t>
            </a:r>
          </a:p>
          <a:p>
            <a:r>
              <a:rPr dirty="0"/>
              <a:t>Augmented CNN selected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anose="02020603050405020304" pitchFamily="18" charset="0"/>
                <a:cs typeface="Times New Roman" panose="02020603050405020304" pitchFamily="18" charset="0"/>
              </a:rPr>
              <a:t>Challenges Faced</a:t>
            </a:r>
          </a:p>
        </p:txBody>
      </p:sp>
      <p:sp>
        <p:nvSpPr>
          <p:cNvPr id="3" name="Content Placeholder 2"/>
          <p:cNvSpPr>
            <a:spLocks noGrp="1"/>
          </p:cNvSpPr>
          <p:nvPr>
            <p:ph idx="1"/>
          </p:nvPr>
        </p:nvSpPr>
        <p:spPr/>
        <p:txBody>
          <a:bodyPr/>
          <a:lstStyle/>
          <a:p>
            <a:r>
              <a:rPr dirty="0"/>
              <a:t>Nested dataset folders</a:t>
            </a:r>
          </a:p>
          <a:p>
            <a:r>
              <a:rPr dirty="0"/>
              <a:t>Small dataset size</a:t>
            </a:r>
          </a:p>
          <a:p>
            <a:r>
              <a:rPr dirty="0"/>
              <a:t>Image quality variations</a:t>
            </a:r>
          </a:p>
          <a:p>
            <a:r>
              <a:rPr dirty="0"/>
              <a:t>Overfitting risk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Solutions</a:t>
            </a:r>
            <a:r>
              <a:rPr dirty="0"/>
              <a:t> Applied</a:t>
            </a:r>
          </a:p>
        </p:txBody>
      </p:sp>
      <p:sp>
        <p:nvSpPr>
          <p:cNvPr id="3" name="Content Placeholder 2"/>
          <p:cNvSpPr>
            <a:spLocks noGrp="1"/>
          </p:cNvSpPr>
          <p:nvPr>
            <p:ph idx="1"/>
          </p:nvPr>
        </p:nvSpPr>
        <p:spPr/>
        <p:txBody>
          <a:bodyPr/>
          <a:lstStyle/>
          <a:p>
            <a:r>
              <a:rPr dirty="0"/>
              <a:t>Manual dataset restructuring</a:t>
            </a:r>
          </a:p>
          <a:p>
            <a:r>
              <a:rPr dirty="0">
                <a:latin typeface="Times New Roman" panose="02020603050405020304" pitchFamily="18" charset="0"/>
                <a:cs typeface="Times New Roman" panose="02020603050405020304" pitchFamily="18" charset="0"/>
              </a:rPr>
              <a:t>Preprocessing</a:t>
            </a:r>
            <a:r>
              <a:rPr dirty="0"/>
              <a:t> techniques</a:t>
            </a:r>
          </a:p>
          <a:p>
            <a:r>
              <a:rPr dirty="0"/>
              <a:t>Data augmentation</a:t>
            </a:r>
          </a:p>
          <a:p>
            <a:r>
              <a:rPr dirty="0"/>
              <a:t>Controlled training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a:t>
            </a:r>
          </a:p>
        </p:txBody>
      </p:sp>
      <p:sp>
        <p:nvSpPr>
          <p:cNvPr id="3" name="Content Placeholder 2"/>
          <p:cNvSpPr>
            <a:spLocks noGrp="1"/>
          </p:cNvSpPr>
          <p:nvPr>
            <p:ph idx="1"/>
          </p:nvPr>
        </p:nvSpPr>
        <p:spPr/>
        <p:txBody>
          <a:bodyPr/>
          <a:lstStyle/>
          <a:p>
            <a:r>
              <a:rPr dirty="0"/>
              <a:t>Successful rice leaf disease classification</a:t>
            </a:r>
          </a:p>
          <a:p>
            <a:r>
              <a:rPr dirty="0"/>
              <a:t>CNN proved effective</a:t>
            </a:r>
          </a:p>
          <a:p>
            <a:r>
              <a:rPr dirty="0"/>
              <a:t>Data </a:t>
            </a:r>
            <a:r>
              <a:rPr dirty="0">
                <a:latin typeface="Times New Roman" panose="02020603050405020304" pitchFamily="18" charset="0"/>
                <a:cs typeface="Times New Roman" panose="02020603050405020304" pitchFamily="18" charset="0"/>
              </a:rPr>
              <a:t>augmentation</a:t>
            </a:r>
            <a:r>
              <a:rPr dirty="0"/>
              <a:t> improved robustness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Future</a:t>
            </a:r>
            <a:r>
              <a:rPr dirty="0"/>
              <a:t> Scope</a:t>
            </a:r>
          </a:p>
        </p:txBody>
      </p:sp>
      <p:sp>
        <p:nvSpPr>
          <p:cNvPr id="3" name="Content Placeholder 2"/>
          <p:cNvSpPr>
            <a:spLocks noGrp="1"/>
          </p:cNvSpPr>
          <p:nvPr>
            <p:ph idx="1"/>
          </p:nvPr>
        </p:nvSpPr>
        <p:spPr/>
        <p:txBody>
          <a:bodyPr/>
          <a:lstStyle/>
          <a:p>
            <a:r>
              <a:rPr dirty="0"/>
              <a:t>Larger datasets</a:t>
            </a:r>
          </a:p>
          <a:p>
            <a:r>
              <a:rPr dirty="0"/>
              <a:t>Transfer learning models</a:t>
            </a:r>
          </a:p>
          <a:p>
            <a:r>
              <a:rPr dirty="0"/>
              <a:t>Web/mobile deployment</a:t>
            </a:r>
          </a:p>
          <a:p>
            <a:r>
              <a:rPr dirty="0"/>
              <a:t>Real-time disease detection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64901" y="2904382"/>
            <a:ext cx="6571343" cy="1049235"/>
          </a:xfrm>
        </p:spPr>
        <p:txBody>
          <a:bodyPr/>
          <a:lstStyle/>
          <a:p>
            <a:r>
              <a:rPr dirty="0">
                <a:latin typeface="Times New Roman" panose="02020603050405020304" pitchFamily="18" charset="0"/>
                <a:cs typeface="Times New Roman" panose="02020603050405020304" pitchFamily="18" charset="0"/>
              </a:rPr>
              <a:t>Thank</a:t>
            </a:r>
            <a:r>
              <a:rPr dirty="0"/>
              <a:t> You</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19</TotalTime>
  <Words>316</Words>
  <Application>Microsoft Office PowerPoint</Application>
  <PresentationFormat>On-screen Show (4:3)</PresentationFormat>
  <Paragraphs>74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Gill Sans MT</vt:lpstr>
      <vt:lpstr>Times New Roman</vt:lpstr>
      <vt:lpstr>Gallery</vt:lpstr>
      <vt:lpstr>Rice Leaf Disease Detection</vt:lpstr>
      <vt:lpstr>Introduction</vt:lpstr>
      <vt:lpstr>Problem Statement</vt:lpstr>
      <vt:lpstr>Dataset Description</vt:lpstr>
      <vt:lpstr>Exploratory Data Analysis</vt:lpstr>
      <vt:lpstr>Data Preprocessing</vt:lpstr>
      <vt:lpstr>CNN Model (Without Augmentation)</vt:lpstr>
      <vt:lpstr>Data Augmentation</vt:lpstr>
      <vt:lpstr>CNN Model (With Augmentation)</vt:lpstr>
      <vt:lpstr>Model Evaluation</vt:lpstr>
      <vt:lpstr>Model Comparison</vt:lpstr>
      <vt:lpstr>Challenges Faced</vt:lpstr>
      <vt:lpstr>Solutions Applied</vt:lpstr>
      <vt:lpstr>Conclusion</vt:lpstr>
      <vt:lpstr>Future Scope</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Shrusti Kinagi</cp:lastModifiedBy>
  <cp:revision>5</cp:revision>
  <dcterms:created xsi:type="dcterms:W3CDTF">2013-01-27T09:14:16Z</dcterms:created>
  <dcterms:modified xsi:type="dcterms:W3CDTF">2026-01-19T08:49:47Z</dcterms:modified>
  <cp:category/>
</cp:coreProperties>
</file>